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AI TUTOR SOUTH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B81C"/>
                </a:solidFill>
                <a:latin typeface="Segoe UI"/>
              </a:defRPr>
            </a:pPr>
            <a:r>
              <a:t>Teaching Students HOW to Think, Not WHAT to Think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8E8E8"/>
                </a:solidFill>
                <a:latin typeface="Segoe UI"/>
              </a:defRPr>
            </a:pPr>
            <a:r>
              <a:t>Mathematics  |  Physics  |  Accounting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8E8E8"/>
                </a:solidFill>
                <a:latin typeface="Segoe UI"/>
              </a:defRPr>
            </a:pPr>
            <a:r>
              <a:t>Grades 1-12  |  CAPS &amp; IEB Curriculum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B45A"/>
                </a:solidFill>
                <a:latin typeface="Segoe UI"/>
              </a:defRPr>
            </a:pPr>
            <a:r>
              <a:t>WhatsApp + USSD  |  Zero-Rated on Vodacom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446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E8E8"/>
                </a:solidFill>
                <a:latin typeface="Segoe UI"/>
              </a:defRPr>
            </a:pPr>
            <a:r>
              <a:t>Hackathon Finals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E3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DE3531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B81C"/>
                </a:solidFill>
                <a:latin typeface="Segoe UI"/>
              </a:defRPr>
            </a:pPr>
            <a:r>
              <a:t>South Africa's Mathematics Education Crisis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651760" cy="25603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DE3531"/>
                </a:solidFill>
                <a:latin typeface="Segoe UI"/>
              </a:defRPr>
            </a:pPr>
            <a:r>
              <a:t>Only 37%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E8E8"/>
                </a:solidFill>
                <a:latin typeface="Segoe UI"/>
              </a:defRPr>
            </a:pPr>
            <a:r>
              <a:t>of Grade 9 learners</a:t>
            </a:r>
            <a:br/>
            <a:r>
              <a:t>passed mathematics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2011680"/>
            <a:ext cx="2651760" cy="25603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286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6B35"/>
                </a:solidFill>
                <a:latin typeface="Segoe UI"/>
              </a:defRPr>
            </a:pPr>
            <a:r>
              <a:t>40:1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2004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E8E8"/>
                </a:solidFill>
                <a:latin typeface="Segoe UI"/>
              </a:defRPr>
            </a:pPr>
            <a:r>
              <a:t>Learner-to-teacher</a:t>
            </a:r>
            <a:br/>
            <a:r>
              <a:t>ratio in many schools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011680"/>
            <a:ext cx="2651760" cy="25603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B81C"/>
                </a:solidFill>
                <a:latin typeface="Segoe UI"/>
              </a:defRPr>
            </a:pPr>
            <a:r>
              <a:t>R200-R500/hr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2004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E8E8"/>
                </a:solidFill>
                <a:latin typeface="Segoe UI"/>
              </a:defRPr>
            </a:pPr>
            <a:r>
              <a:t>Cost of private</a:t>
            </a:r>
            <a:br/>
            <a:r>
              <a:t>tutoring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2011680"/>
            <a:ext cx="2651760" cy="25603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2286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899B"/>
                </a:solidFill>
                <a:latin typeface="Segoe UI"/>
              </a:defRPr>
            </a:pPr>
            <a:r>
              <a:t>60%+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32004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E8E8"/>
                </a:solidFill>
                <a:latin typeface="Segoe UI"/>
              </a:defRPr>
            </a:pPr>
            <a:r>
              <a:t>Learners can't afford</a:t>
            </a:r>
            <a:br/>
            <a:r>
              <a:t>data for online 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029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How do we provide QUALITY tutoring to EVERY learner?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8E8E8"/>
                </a:solidFill>
                <a:latin typeface="Segoe UI"/>
              </a:defRPr>
            </a:pPr>
            <a:r>
              <a:t>Language barriers  |  Rural access  |  Device limitations  |  Data costs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B45A"/>
                </a:solidFill>
                <a:latin typeface="Segoe UI"/>
              </a:defRPr>
            </a:pPr>
            <a:r>
              <a:t>OUR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303520" cy="1828800"/>
          </a:xfrm>
          <a:prstGeom prst="rect">
            <a:avLst/>
          </a:prstGeom>
          <a:solidFill>
            <a:srgbClr val="3D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E3531"/>
                </a:solidFill>
                <a:latin typeface="Segoe UI"/>
              </a:defRPr>
            </a:pPr>
            <a:r>
              <a:t>TRADITIONAL AI TUTORS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Segoe UI"/>
              </a:defRPr>
            </a:pPr>
            <a:r>
              <a:t>"The answer is x = 4"</a:t>
            </a:r>
            <a:br/>
            <a:br/>
            <a:r>
              <a:t>Just gives the answer. Learner doesn't</a:t>
            </a:r>
            <a:br/>
            <a:r>
              <a:t>understand WHY or HOW.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371600"/>
            <a:ext cx="5303520" cy="1828800"/>
          </a:xfrm>
          <a:prstGeom prst="rect">
            <a:avLst/>
          </a:prstGeom>
          <a:solidFill>
            <a:srgbClr val="0A3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63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5A"/>
                </a:solidFill>
                <a:latin typeface="Segoe UI"/>
              </a:defRPr>
            </a:pPr>
            <a:r>
              <a:t>AI TUTOR SOUTH AFRICA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Segoe UI"/>
              </a:defRPr>
            </a:pPr>
            <a:r>
              <a:t>"Interesting approach! Think of it like a</a:t>
            </a:r>
            <a:br/>
            <a:r>
              <a:t>balance scale. What's in the way of x?"</a:t>
            </a:r>
            <a:br/>
            <a:br/>
            <a:r>
              <a:t>Guides learner to DISCOVER the answer.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657600"/>
            <a:ext cx="347472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899B"/>
                </a:solidFill>
                <a:latin typeface="Segoe UI"/>
              </a:defRPr>
            </a:pPr>
            <a:r>
              <a:t>REASONING</a:t>
            </a:r>
            <a:br/>
            <a:r>
              <a:t>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E8E8"/>
                </a:solidFill>
                <a:latin typeface="Segoe UI"/>
              </a:defRPr>
            </a:pPr>
            <a:r>
              <a:t>Analyzes HOW</a:t>
            </a:r>
            <a:br/>
            <a:r>
              <a:t>learners think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3657600"/>
            <a:ext cx="347472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39319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C5CE7"/>
                </a:solidFill>
                <a:latin typeface="Segoe UI"/>
              </a:defRPr>
            </a:pPr>
            <a:r>
              <a:t>PERSONALIZED</a:t>
            </a:r>
            <a:br/>
            <a:r>
              <a:t>HINTS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9377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E8E8"/>
                </a:solidFill>
                <a:latin typeface="Segoe UI"/>
              </a:defRPr>
            </a:pPr>
            <a:r>
              <a:t>Progressive guidance</a:t>
            </a:r>
            <a:br/>
            <a:r>
              <a:t>tailored to level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3657600"/>
            <a:ext cx="347472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39319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B81C"/>
                </a:solidFill>
                <a:latin typeface="Segoe UI"/>
              </a:defRPr>
            </a:pPr>
            <a:r>
              <a:t>PROGRESS</a:t>
            </a:r>
            <a:br/>
            <a:r>
              <a:t>TRACKING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49377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E8E8"/>
                </a:solidFill>
                <a:latin typeface="Segoe UI"/>
              </a:defRPr>
            </a:pPr>
            <a:r>
              <a:t>Track improvement</a:t>
            </a:r>
            <a:br/>
            <a:r>
              <a:t>over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We analyze HOW learners think, not just WHAT they answer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899B"/>
                </a:solidFill>
                <a:latin typeface="Segoe UI"/>
              </a:defRPr>
            </a:pPr>
            <a:r>
              <a:t>THE INNOVATION: Reasoning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029200" cy="64008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PROBLEM:  2x + 5 =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5029200" cy="914400"/>
          </a:xfrm>
          <a:prstGeom prst="rect">
            <a:avLst/>
          </a:prstGeom>
          <a:solidFill>
            <a:srgbClr val="3D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E3531"/>
                </a:solidFill>
                <a:latin typeface="Segoe UI"/>
              </a:defRPr>
            </a:pPr>
            <a:r>
              <a:t>LEARNER SAYS: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"I think I should add 13 and 5 together"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91840"/>
            <a:ext cx="5029200" cy="2926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99B"/>
                </a:solidFill>
                <a:latin typeface="Segoe UI"/>
              </a:defRPr>
            </a:pPr>
            <a:r>
              <a:t>AI REASONING ANALYSIS: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39"/>
            <a:ext cx="4663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300">
                <a:solidFill>
                  <a:srgbClr val="FFB81C"/>
                </a:solidFill>
                <a:latin typeface="Segoe UI"/>
              </a:defRPr>
            </a:pPr>
            <a:r>
              <a:t>Misconception:  inverse_operation_confusion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Reasoning Gap:  Treating equation as L-to-R calculation</a:t>
            </a:r>
          </a:p>
          <a:p>
            <a:pPr>
              <a:spcBef>
                <a:spcPts val="800"/>
              </a:spcBef>
              <a:defRPr sz="1300">
                <a:solidFill>
                  <a:srgbClr val="DE3531"/>
                </a:solidFill>
                <a:latin typeface="Segoe UI"/>
              </a:defRPr>
            </a:pPr>
            <a:r>
              <a:t>Severity:  foundational</a:t>
            </a:r>
          </a:p>
          <a:p>
            <a:pPr>
              <a:spcBef>
                <a:spcPts val="800"/>
              </a:spcBef>
              <a:defRPr sz="1300">
                <a:solidFill>
                  <a:srgbClr val="00B45A"/>
                </a:solidFill>
                <a:latin typeface="Segoe UI"/>
              </a:defRPr>
            </a:pPr>
            <a:r>
              <a:t>Confidence:  85%</a:t>
            </a:r>
          </a:p>
          <a:p>
            <a:pPr>
              <a:spcBef>
                <a:spcPts val="800"/>
              </a:spcBef>
              <a:defRPr sz="1300">
                <a:solidFill>
                  <a:srgbClr val="E8E8E8"/>
                </a:solidFill>
                <a:latin typeface="Segoe UI"/>
              </a:defRPr>
            </a:pPr>
            <a:r>
              <a:t>Concepts:  equation_balance, inverse_operations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5760720" cy="4937760"/>
          </a:xfrm>
          <a:prstGeom prst="rect">
            <a:avLst/>
          </a:prstGeom>
          <a:solidFill>
            <a:srgbClr val="0A3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3716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45A"/>
                </a:solidFill>
                <a:latin typeface="Segoe UI"/>
              </a:defRPr>
            </a:pPr>
            <a:r>
              <a:t>AI TUTOR RESPONDS (Socratic Method):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82880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  <a:r>
              <a:t>"Interesting thinking! Let me help you see this differently.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FFFFFF"/>
                </a:solidFill>
                <a:latin typeface="Segoe UI"/>
              </a:defRPr>
            </a:pPr>
            <a:r>
              <a:t>An equation is like a balance scale.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FFFFFF"/>
                </a:solidFill>
                <a:latin typeface="Segoe UI"/>
              </a:defRPr>
            </a:pPr>
            <a:r>
              <a:t>You have 2x + 5 on the left, and 13 on the right.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FFB81C"/>
                </a:solidFill>
                <a:latin typeface="Segoe UI"/>
              </a:defRPr>
            </a:pPr>
            <a:r>
              <a:t>If you add 13 and 5, which side would change?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FFFFFF"/>
                </a:solidFill>
                <a:latin typeface="Segoe UI"/>
              </a:defRPr>
            </a:pPr>
            <a:r>
              <a:t>Think about it: We want to get x by itself.</a:t>
            </a:r>
          </a:p>
          <a:p>
            <a:pPr algn="l">
              <a:spcBef>
                <a:spcPts val="600"/>
              </a:spcBef>
              <a:defRPr sz="1500" b="1">
                <a:solidFill>
                  <a:srgbClr val="00B45A"/>
                </a:solidFill>
                <a:latin typeface="Segoe UI"/>
              </a:defRPr>
            </a:pPr>
            <a:r>
              <a:t>What's 'in the way' of x?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B81C"/>
                </a:solidFill>
                <a:latin typeface="Segoe UI"/>
              </a:defRPr>
            </a:pPr>
            <a:r>
              <a:t>We guide learners to DISCOVER answers through questions - never giving solutions directly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C5CE7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899B"/>
                </a:solidFill>
                <a:latin typeface="Segoe UI"/>
              </a:defRPr>
            </a:pPr>
            <a:r>
              <a:t>LEARNER INTERACTION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508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WhatsApp Channel</a:t>
            </a:r>
            <a:br/>
            <a:r>
              <a:t>(Smartphones, rich media)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508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USSD Channel</a:t>
            </a:r>
            <a:br/>
            <a:r>
              <a:t>(Any phone, text-only)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377440"/>
            <a:ext cx="6675120" cy="64008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4231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45A"/>
                </a:solidFill>
                <a:latin typeface="Segoe UI"/>
              </a:defRPr>
            </a:pPr>
            <a:r>
              <a:t>API GATEWAY  (Zero-Rated Endpoints on Vodacom)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00400"/>
            <a:ext cx="11247120" cy="1463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246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899B"/>
                </a:solidFill>
                <a:latin typeface="Segoe UI"/>
              </a:defRPr>
            </a:pPr>
            <a:r>
              <a:t>AI TUTOR ENGINE (AWS Lambda)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657600"/>
            <a:ext cx="2286000" cy="822960"/>
          </a:xfrm>
          <a:prstGeom prst="rect">
            <a:avLst/>
          </a:prstGeom>
          <a:solidFill>
            <a:srgbClr val="008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675887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Reasoning</a:t>
            </a:r>
            <a:br/>
            <a:r>
              <a:t>Analyzer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3657600"/>
            <a:ext cx="2286000" cy="8229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0" y="3675887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Hint</a:t>
            </a:r>
            <a:br/>
            <a:r>
              <a:t>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657600"/>
            <a:ext cx="2286000" cy="82296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675887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Progress</a:t>
            </a:r>
            <a:br/>
            <a:r>
              <a:t>Tracker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3657600"/>
            <a:ext cx="2286000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3675887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Session</a:t>
            </a:r>
            <a:br/>
            <a:r>
              <a:t>Manager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846320"/>
            <a:ext cx="1124712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892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B81C"/>
                </a:solidFill>
                <a:latin typeface="Segoe UI"/>
              </a:defRPr>
            </a:pPr>
            <a:r>
              <a:t>AWS BEDROCK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5257800"/>
            <a:ext cx="3200400" cy="411480"/>
          </a:xfrm>
          <a:prstGeom prst="rect">
            <a:avLst/>
          </a:prstGeom>
          <a:solidFill>
            <a:srgbClr val="00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26694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Claude 3.5 Sonnet</a:t>
            </a:r>
            <a:br/>
            <a:r>
              <a:t>(Primary AI)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5257800"/>
            <a:ext cx="3200400" cy="411480"/>
          </a:xfrm>
          <a:prstGeom prst="rect">
            <a:avLst/>
          </a:prstGeom>
          <a:solidFill>
            <a:srgbClr val="008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526694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Knowledge Base</a:t>
            </a:r>
            <a:br/>
            <a:r>
              <a:t>(CAPS/IEB Curriculum)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5257800"/>
            <a:ext cx="3200400" cy="411480"/>
          </a:xfrm>
          <a:prstGeom prst="rect">
            <a:avLst/>
          </a:prstGeom>
          <a:solidFill>
            <a:srgbClr val="DE3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526694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Guardrails</a:t>
            </a:r>
            <a:br/>
            <a:r>
              <a:t>(Content Safety)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943600"/>
            <a:ext cx="11247120" cy="731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989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B81C"/>
                </a:solidFill>
                <a:latin typeface="Segoe UI"/>
              </a:defRPr>
            </a:pPr>
            <a:r>
              <a:t>DATA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62362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DynamoDB (Learner Profiles &amp; Progress)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62362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S3 (Curriculum Resources)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45A"/>
                </a:solidFill>
                <a:latin typeface="Segoe UI"/>
              </a:defRPr>
            </a:pPr>
            <a:r>
              <a:t>WHATSAPP EXPERIENCE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029200" cy="50292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Learner: Hi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645920"/>
            <a:ext cx="5760720" cy="822960"/>
          </a:xfrm>
          <a:prstGeom prst="rect">
            <a:avLst/>
          </a:prstGeom>
          <a:solidFill>
            <a:srgbClr val="0A3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664208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AI Tutor: Hello Thabo! Welcome to AI Tutor!</a:t>
            </a:r>
            <a:br/>
            <a:r>
              <a:t>What would you like help with today?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43200"/>
            <a:ext cx="5029200" cy="50292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76148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Learner: Help me solve: 2x + 5 =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3291840"/>
            <a:ext cx="5760720" cy="822960"/>
          </a:xfrm>
          <a:prstGeom prst="rect">
            <a:avLst/>
          </a:prstGeom>
          <a:solidFill>
            <a:srgbClr val="0A3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3310128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AI Tutor: Great question! Tell me: What do you think</a:t>
            </a:r>
            <a:br/>
            <a:r>
              <a:t>is the first step?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89120"/>
            <a:ext cx="5029200" cy="50292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40740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Learner: I think I should add 13 and 5 together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4937760"/>
            <a:ext cx="5760720" cy="822960"/>
          </a:xfrm>
          <a:prstGeom prst="rect">
            <a:avLst/>
          </a:prstGeom>
          <a:solidFill>
            <a:srgbClr val="0A3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4956048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AI Tutor: Interesting thinking! Think of it like a</a:t>
            </a:r>
            <a:br/>
            <a:r>
              <a:t>balance scale. What's 'in the way' of x?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943600"/>
            <a:ext cx="11247120" cy="731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0350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B81C"/>
                </a:solidFill>
                <a:latin typeface="Segoe UI"/>
              </a:defRPr>
            </a:pPr>
            <a:r>
              <a:t>KEY: The AI detected a misconception and guided the learner with a question - NEVER giving the answer directly!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6B35"/>
                </a:solidFill>
                <a:latin typeface="Segoe UI"/>
              </a:defRPr>
            </a:pPr>
            <a:r>
              <a:t>USSD EXPERIENCE - Works on ANY Phone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8E8E8"/>
                </a:solidFill>
                <a:latin typeface="Segoe UI"/>
              </a:defRPr>
            </a:pPr>
            <a:r>
              <a:t>Dial: *120*TUTOR#    |    No smartphone needed    |    No data needed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45920"/>
            <a:ext cx="2743200" cy="34747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783080"/>
            <a:ext cx="2468880" cy="27432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2286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45A"/>
                </a:solidFill>
                <a:latin typeface="Segoe UI"/>
              </a:defRPr>
            </a:pPr>
            <a:r>
              <a:t>Welcome to AI Tutor!</a:t>
            </a:r>
            <a:br/>
            <a:r>
              <a:t>1. Mathematics</a:t>
            </a:r>
            <a:br/>
            <a:r>
              <a:t>2. Help</a:t>
            </a:r>
            <a:br/>
            <a:r>
              <a:t>3. My Progress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617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B81C"/>
                </a:solidFill>
                <a:latin typeface="Segoe UI"/>
              </a:defRPr>
            </a:pPr>
            <a:r>
              <a:t>User dials *120*TUTOR#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39" y="1645920"/>
            <a:ext cx="2743200" cy="34747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8999" y="1783080"/>
            <a:ext cx="2468880" cy="27432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39" y="1920240"/>
            <a:ext cx="2286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45A"/>
                </a:solidFill>
                <a:latin typeface="Segoe UI"/>
              </a:defRPr>
            </a:pPr>
            <a:r>
              <a:t>Select your grade:</a:t>
            </a:r>
            <a:br/>
            <a:r>
              <a:t>1. Gr 1-3</a:t>
            </a:r>
            <a:br/>
            <a:r>
              <a:t>2. Gr 4-6</a:t>
            </a:r>
            <a:br/>
            <a:r>
              <a:t>3. Gr 7-9</a:t>
            </a:r>
            <a:br/>
            <a:r>
              <a:t>4. Gr 10-12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39" y="4617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B81C"/>
                </a:solidFill>
                <a:latin typeface="Segoe UI"/>
              </a:defRPr>
            </a:pPr>
            <a:r>
              <a:t>User inputs: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59" y="1645920"/>
            <a:ext cx="2743200" cy="34747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46519" y="1783080"/>
            <a:ext cx="2468880" cy="27432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59" y="1920240"/>
            <a:ext cx="2286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45A"/>
                </a:solidFill>
                <a:latin typeface="Segoe UI"/>
              </a:defRPr>
            </a:pPr>
            <a:r>
              <a:t>Topic:</a:t>
            </a:r>
            <a:br/>
            <a:r>
              <a:t>1. Algebra</a:t>
            </a:r>
            <a:br/>
            <a:r>
              <a:t>2. Calculus</a:t>
            </a:r>
            <a:br/>
            <a:r>
              <a:t>3. Trigonometry</a:t>
            </a:r>
            <a:br/>
            <a:r>
              <a:t>4. Functions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4617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B81C"/>
                </a:solidFill>
                <a:latin typeface="Segoe UI"/>
              </a:defRPr>
            </a:pPr>
            <a:r>
              <a:t>User inputs: 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26880" y="1645920"/>
            <a:ext cx="2743200" cy="34747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64040" y="1783080"/>
            <a:ext cx="2468880" cy="27432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55480" y="1920240"/>
            <a:ext cx="2286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45A"/>
                </a:solidFill>
                <a:latin typeface="Segoe UI"/>
              </a:defRPr>
            </a:pPr>
            <a:r>
              <a:t>Practice:</a:t>
            </a:r>
            <a:br/>
            <a:r>
              <a:t>Solve: 2x = 10</a:t>
            </a:r>
            <a:br/>
            <a:r>
              <a:t>What is x?</a:t>
            </a:r>
            <a:br/>
            <a:br/>
            <a:r>
              <a:t>Reply with number: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4617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B81C"/>
                </a:solidFill>
                <a:latin typeface="Segoe UI"/>
              </a:defRPr>
            </a:pPr>
            <a:r>
              <a:t>User inputs: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669280"/>
            <a:ext cx="530352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76072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Works on Nokia 3310, Samsung feature phones,</a:t>
            </a:r>
            <a:br/>
            <a:r>
              <a:t>and ANY device that supports USSD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5669280"/>
            <a:ext cx="5303520" cy="914400"/>
          </a:xfrm>
          <a:prstGeom prst="rect">
            <a:avLst/>
          </a:prstGeom>
          <a:solidFill>
            <a:srgbClr val="0A3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576072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B45A"/>
                </a:solidFill>
                <a:latin typeface="Segoe UI"/>
              </a:defRPr>
            </a:pPr>
            <a:r>
              <a:t>Zero-rated on Vodacom network</a:t>
            </a:r>
            <a:br/>
            <a:r>
              <a:t>No data deducted from learner's balance!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C5CE7"/>
                </a:solidFill>
                <a:latin typeface="Segoe UI"/>
              </a:defRPr>
            </a:pPr>
            <a:r>
              <a:t>PROGRESSIVE HINT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8E8E8"/>
                </a:solidFill>
                <a:latin typeface="Segoe UI"/>
              </a:defRPr>
            </a:pPr>
            <a:r>
              <a:t>Hints get MORE specific as learner needs more help - but NEVER give the answer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371600" cy="1005840"/>
          </a:xfrm>
          <a:prstGeom prst="rect">
            <a:avLst/>
          </a:prstGeom>
          <a:solidFill>
            <a:srgbClr val="008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LEVEL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574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Probing Question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1554480"/>
            <a:ext cx="640080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1691640"/>
            <a:ext cx="6035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"What do you think is</a:t>
            </a:r>
            <a:br/>
            <a:r>
              <a:t>the first step?"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1554480"/>
            <a:ext cx="3017520" cy="100584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0" y="17830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8E8"/>
                </a:solidFill>
                <a:latin typeface="Segoe UI"/>
              </a:defRPr>
            </a:pPr>
            <a:r>
              <a:t>Goal: Understand thinking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88920"/>
            <a:ext cx="1371600" cy="100584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8803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LEVEL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918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Conceptual Hint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2788920"/>
            <a:ext cx="640080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2926080"/>
            <a:ext cx="6035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"Think of a balance scale.</a:t>
            </a:r>
            <a:br/>
            <a:r>
              <a:t>What's in the way of x?"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2788920"/>
            <a:ext cx="3017520" cy="100584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30175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8E8"/>
                </a:solidFill>
                <a:latin typeface="Segoe UI"/>
              </a:defRPr>
            </a:pPr>
            <a:r>
              <a:t>Goal: Provide mental model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023360"/>
            <a:ext cx="1371600" cy="100584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1148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LEVEL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5262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Procedural Hint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0" y="4023360"/>
            <a:ext cx="640080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94560" y="4160520"/>
            <a:ext cx="6035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"Try subtracting 5 from</a:t>
            </a:r>
            <a:br/>
            <a:r>
              <a:t>BOTH sides. What do you get?"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0" y="4023360"/>
            <a:ext cx="3017520" cy="100584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0" y="42519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8E8"/>
                </a:solidFill>
                <a:latin typeface="Segoe UI"/>
              </a:defRPr>
            </a:pPr>
            <a:r>
              <a:t>Goal: Guide specific action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257800"/>
            <a:ext cx="1371600" cy="10058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3492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LEVEL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7607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Worked Example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0" y="5257800"/>
            <a:ext cx="640080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94560" y="5394960"/>
            <a:ext cx="6035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"Let me show a similar problem:</a:t>
            </a:r>
            <a:br/>
            <a:r>
              <a:t>3x + 7 = 19 ..."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0" y="5257800"/>
            <a:ext cx="3017520" cy="100584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0" y="54864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8E8"/>
                </a:solidFill>
                <a:latin typeface="Segoe UI"/>
              </a:defRPr>
            </a:pPr>
            <a:r>
              <a:t>Goal: Model the process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26060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E8E8"/>
                </a:solidFill>
                <a:latin typeface="Segoe UI"/>
              </a:defRPr>
            </a:pPr>
            <a:r>
              <a:t>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38404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E8E8"/>
                </a:solidFill>
                <a:latin typeface="Segoe UI"/>
              </a:defRPr>
            </a:pPr>
            <a:r>
              <a:t>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074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E8E8"/>
                </a:solidFill>
                <a:latin typeface="Segoe UI"/>
              </a:defRPr>
            </a:pPr>
            <a:r>
              <a:t>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B81C"/>
                </a:solidFill>
                <a:latin typeface="Segoe UI"/>
              </a:defRPr>
            </a:pPr>
            <a:r>
              <a:t>Learners EARN the answer through guided discovery - building real understanding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B81C"/>
                </a:solidFill>
                <a:latin typeface="Segoe UI"/>
              </a:defRPr>
            </a:pPr>
            <a:r>
              <a:t>PROGRESS TRACKING &amp; GAMIFICATION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00" cy="5303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Your Progress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Segoe UI"/>
              </a:defRPr>
            </a:pPr>
            <a:r>
              <a:t>Problems Attempted:  12</a:t>
            </a:r>
          </a:p>
          <a:p>
            <a:pPr>
              <a:spcBef>
                <a:spcPts val="400"/>
              </a:spcBef>
              <a:defRPr sz="1400">
                <a:solidFill>
                  <a:srgbClr val="00B45A"/>
                </a:solidFill>
                <a:latin typeface="Segoe UI"/>
              </a:defRPr>
            </a:pPr>
            <a:r>
              <a:t>Problems Solved:  9</a:t>
            </a:r>
          </a:p>
          <a:p>
            <a:pPr>
              <a:spcBef>
                <a:spcPts val="400"/>
              </a:spcBef>
              <a:defRPr sz="1400">
                <a:solidFill>
                  <a:srgbClr val="FFB81C"/>
                </a:solidFill>
                <a:latin typeface="Segoe UI"/>
              </a:defRPr>
            </a:pPr>
            <a:r>
              <a:t>Accuracy:  75%</a:t>
            </a:r>
          </a:p>
          <a:p>
            <a:pPr>
              <a:spcBef>
                <a:spcPts val="400"/>
              </a:spcBef>
              <a:defRPr sz="1400">
                <a:solidFill>
                  <a:srgbClr val="FF6B35"/>
                </a:solidFill>
                <a:latin typeface="Segoe UI"/>
              </a:defRPr>
            </a:pPr>
            <a:r>
              <a:t>Current Streak:  3 correct!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00899B"/>
                </a:solidFill>
                <a:latin typeface="Segoe UI"/>
              </a:defRPr>
            </a:pPr>
            <a:r>
              <a:t>Topics Covered:</a:t>
            </a:r>
          </a:p>
          <a:p>
            <a:pPr>
              <a:spcBef>
                <a:spcPts val="400"/>
              </a:spcBef>
              <a:defRPr sz="1400">
                <a:solidFill>
                  <a:srgbClr val="00B45A"/>
                </a:solidFill>
                <a:latin typeface="Segoe UI"/>
              </a:defRPr>
            </a:pPr>
            <a:r>
              <a:t>  - Linear Equations  80%</a:t>
            </a:r>
          </a:p>
          <a:p>
            <a:pPr>
              <a:spcBef>
                <a:spcPts val="400"/>
              </a:spcBef>
              <a:defRPr sz="1400">
                <a:solidFill>
                  <a:srgbClr val="FFB81C"/>
                </a:solidFill>
                <a:latin typeface="Segoe UI"/>
              </a:defRPr>
            </a:pPr>
            <a:r>
              <a:t>  - Fractions  60%</a:t>
            </a:r>
          </a:p>
          <a:p>
            <a:pPr>
              <a:spcBef>
                <a:spcPts val="400"/>
              </a:spcBef>
              <a:defRPr sz="1400">
                <a:solidFill>
                  <a:srgbClr val="FF6B35"/>
                </a:solidFill>
                <a:latin typeface="Segoe UI"/>
              </a:defRPr>
            </a:pPr>
            <a:r>
              <a:t>  - Algebra  40%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DE3531"/>
                </a:solidFill>
                <a:latin typeface="Segoe UI"/>
              </a:defRPr>
            </a:pPr>
            <a:r>
              <a:t>Keep Practicing:  Word Problems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188720"/>
            <a:ext cx="530352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81C"/>
                </a:solidFill>
                <a:latin typeface="Segoe UI"/>
              </a:defRPr>
            </a:pPr>
            <a:r>
              <a:t>ACHIEVEMENTS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5A"/>
                </a:solidFill>
                <a:latin typeface="Segoe UI"/>
              </a:defRPr>
            </a:pPr>
            <a:r>
              <a:t>First Step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1828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Segoe UI"/>
              </a:defRPr>
            </a:pPr>
            <a:r>
              <a:t>Solved first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240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99B"/>
                </a:solidFill>
                <a:latin typeface="Segoe UI"/>
              </a:defRPr>
            </a:pPr>
            <a:r>
              <a:t>Getting Started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22402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Segoe UI"/>
              </a:defRPr>
            </a:pPr>
            <a:r>
              <a:t>Attempted 10 problems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35"/>
                </a:solidFill>
                <a:latin typeface="Segoe UI"/>
              </a:defRPr>
            </a:pPr>
            <a:r>
              <a:t>On Fire!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517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Segoe UI"/>
              </a:defRPr>
            </a:pPr>
            <a:r>
              <a:t>5 correct in a row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063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E3531"/>
                </a:solidFill>
                <a:latin typeface="Segoe UI"/>
              </a:defRPr>
            </a:pPr>
            <a:r>
              <a:t>Unstoppable!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3063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Segoe UI"/>
              </a:defRPr>
            </a:pPr>
            <a:r>
              <a:t>10 correct in a row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657600"/>
            <a:ext cx="5303520" cy="2834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749039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899B"/>
                </a:solidFill>
                <a:latin typeface="Segoe UI"/>
              </a:defRPr>
            </a:pPr>
            <a:r>
              <a:t>SMART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20624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  Identifies weak areas automatically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  Adapts difficulty based on performance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  Celebrates milestones and streaks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  Weekly parent/guardian progress reports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  Teacher dashboard (planned)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899B"/>
                </a:solidFill>
                <a:latin typeface="Segoe UI"/>
              </a:defRPr>
            </a:pPr>
            <a:r>
              <a:t>MULTI-LANGUAGE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8E8E8"/>
                </a:solidFill>
                <a:latin typeface="Segoe UI"/>
              </a:defRPr>
            </a:pPr>
            <a:r>
              <a:t>AI Tutor speaks the learner's home language!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828800" cy="594360"/>
          </a:xfrm>
          <a:prstGeom prst="rect">
            <a:avLst/>
          </a:prstGeom>
          <a:solidFill>
            <a:srgbClr val="00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English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80" y="1554480"/>
            <a:ext cx="923544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164592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"What do you think is the first step?"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31720"/>
            <a:ext cx="1828800" cy="59436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IsiZulu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2331720"/>
            <a:ext cx="923544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242316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"Ucabanga ukuthi yisiphi isinyathelo sokuqala?"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08960"/>
            <a:ext cx="1828800" cy="594360"/>
          </a:xfrm>
          <a:prstGeom prst="rect">
            <a:avLst/>
          </a:prstGeom>
          <a:solidFill>
            <a:srgbClr val="008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00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IsiXhosa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0" y="3108960"/>
            <a:ext cx="923544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320040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"Ucinga ukuba yeyiphi inyathelo lokuqala?"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86200"/>
            <a:ext cx="1828800" cy="5943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77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Afrikaans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68880" y="3886200"/>
            <a:ext cx="923544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51760" y="397764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"Wat dink jy is die eerste stap?"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663440"/>
            <a:ext cx="1828800" cy="5943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7548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Sepedi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8880" y="4663440"/>
            <a:ext cx="923544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51760" y="475488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"O nagana gore ke mohato ofe wa pele?"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440680"/>
            <a:ext cx="1828800" cy="594360"/>
          </a:xfrm>
          <a:prstGeom prst="rect">
            <a:avLst/>
          </a:prstGeom>
          <a:solidFill>
            <a:srgbClr val="DE3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532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Setswana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68880" y="5440680"/>
            <a:ext cx="923544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1760" y="553212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"O akanya gore ke kgato efe ya ntlha?"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6217920"/>
            <a:ext cx="10332720" cy="457200"/>
          </a:xfrm>
          <a:prstGeom prst="rect">
            <a:avLst/>
          </a:prstGeom>
          <a:solidFill>
            <a:srgbClr val="0A3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62636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B45A"/>
                </a:solidFill>
                <a:latin typeface="Segoe UI"/>
              </a:defRPr>
            </a:pPr>
            <a:r>
              <a:t>Research shows: Learning in mother tongue improves comprehension by 40%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45A"/>
                </a:solidFill>
                <a:latin typeface="Segoe UI"/>
              </a:defRPr>
            </a:pPr>
            <a:r>
              <a:t>ZERO-RATED ON VODACOM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B81C"/>
                </a:solidFill>
                <a:latin typeface="Segoe UI"/>
              </a:defRPr>
            </a:pPr>
            <a:r>
              <a:t>NO DATA COSTS for Vodacom users - completely FREE to access!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303520" cy="3200400"/>
          </a:xfrm>
          <a:prstGeom prst="rect">
            <a:avLst/>
          </a:prstGeom>
          <a:solidFill>
            <a:srgbClr val="3D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E3531"/>
                </a:solidFill>
                <a:latin typeface="Segoe UI"/>
              </a:defRPr>
            </a:pPr>
            <a:r>
              <a:t>BEFORE (Other platforms)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400">
                <a:solidFill>
                  <a:srgbClr val="E8E8E8"/>
                </a:solidFill>
                <a:latin typeface="Segoe UI"/>
              </a:defRPr>
            </a:pPr>
            <a:r>
              <a:t>  R50-R200/month data costs</a:t>
            </a:r>
          </a:p>
          <a:p>
            <a:pPr>
              <a:spcBef>
                <a:spcPts val="800"/>
              </a:spcBef>
              <a:defRPr sz="1400">
                <a:solidFill>
                  <a:srgbClr val="E8E8E8"/>
                </a:solidFill>
                <a:latin typeface="Segoe UI"/>
              </a:defRPr>
            </a:pPr>
            <a:r>
              <a:t>  Data runs out mid-lesson</a:t>
            </a:r>
          </a:p>
          <a:p>
            <a:pPr>
              <a:spcBef>
                <a:spcPts val="800"/>
              </a:spcBef>
              <a:defRPr sz="1400">
                <a:solidFill>
                  <a:srgbClr val="E8E8E8"/>
                </a:solidFill>
                <a:latin typeface="Segoe UI"/>
              </a:defRPr>
            </a:pPr>
            <a:r>
              <a:t>  Can't afford data = can't learn</a:t>
            </a:r>
          </a:p>
          <a:p>
            <a:pPr>
              <a:spcBef>
                <a:spcPts val="800"/>
              </a:spcBef>
              <a:defRPr sz="1400">
                <a:solidFill>
                  <a:srgbClr val="E8E8E8"/>
                </a:solidFill>
                <a:latin typeface="Segoe UI"/>
              </a:defRPr>
            </a:pPr>
            <a:r>
              <a:t>  Only accessible with WiFi</a:t>
            </a:r>
          </a:p>
          <a:p>
            <a:pPr>
              <a:spcBef>
                <a:spcPts val="800"/>
              </a:spcBef>
              <a:defRPr sz="1400">
                <a:solidFill>
                  <a:srgbClr val="E8E8E8"/>
                </a:solidFill>
                <a:latin typeface="Segoe UI"/>
              </a:defRPr>
            </a:pPr>
            <a:r>
              <a:t>  Smartphone required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5303520" cy="3200400"/>
          </a:xfrm>
          <a:prstGeom prst="rect">
            <a:avLst/>
          </a:prstGeom>
          <a:solidFill>
            <a:srgbClr val="0A3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5A"/>
                </a:solidFill>
                <a:latin typeface="Segoe UI"/>
              </a:defRPr>
            </a:pPr>
            <a:r>
              <a:t>AFTER (AI Tutor SA)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28600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  <a:latin typeface="Segoe UI"/>
              </a:defRPr>
            </a:pPr>
            <a:r>
              <a:t>  R0/month - completely FREE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  <a:latin typeface="Segoe UI"/>
              </a:defRPr>
            </a:pPr>
            <a:r>
              <a:t>  Always available, never runs out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  <a:latin typeface="Segoe UI"/>
              </a:defRPr>
            </a:pPr>
            <a:r>
              <a:t>  Every learner can access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  <a:latin typeface="Segoe UI"/>
              </a:defRPr>
            </a:pPr>
            <a:r>
              <a:t>  Works with R0 airtime balance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  <a:latin typeface="Segoe UI"/>
              </a:defRPr>
            </a:pPr>
            <a:r>
              <a:t>  Works on ANY phone (USSD)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120640"/>
            <a:ext cx="11247120" cy="1554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2120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899B"/>
                </a:solidFill>
                <a:latin typeface="Segoe UI"/>
              </a:defRPr>
            </a:pPr>
            <a:r>
              <a:t>HOW ZERO-RATING WORKS: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5778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1. Our API endpoints are registered and whitelisted by Vodacom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2. Requests from Vodacom network are identified and routed free of charge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3. No data is deducted from the learner's balance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4. 43 million Vodacom subscribers can access for FREE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B81C"/>
                </a:solidFill>
                <a:latin typeface="Segoe UI"/>
              </a:defRPr>
            </a:pPr>
            <a:r>
              <a:t>CURRICULUM ALIGNMENT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0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5A"/>
                </a:solidFill>
                <a:latin typeface="Segoe UI"/>
              </a:defRPr>
            </a:pPr>
            <a:r>
              <a:t>CAPS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Segoe UI"/>
              </a:defRPr>
            </a:pPr>
            <a:r>
              <a:t>Curriculum and Assessment Policy Statement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188720"/>
            <a:ext cx="530352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5A"/>
                </a:solidFill>
                <a:latin typeface="Segoe UI"/>
              </a:defRPr>
            </a:pPr>
            <a:r>
              <a:t>IEB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Segoe UI"/>
              </a:defRPr>
            </a:pPr>
            <a:r>
              <a:t>Independent Examinations 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SUBJECTS: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17520"/>
            <a:ext cx="3474720" cy="1097280"/>
          </a:xfrm>
          <a:prstGeom prst="rect">
            <a:avLst/>
          </a:prstGeom>
          <a:solidFill>
            <a:srgbClr val="00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Mathematics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8E8"/>
                </a:solidFill>
                <a:latin typeface="Segoe UI"/>
              </a:defRPr>
            </a:pPr>
            <a:r>
              <a:t>Grades 1-12 (All)</a:t>
            </a:r>
            <a:br/>
            <a:r>
              <a:t>Status: Pilot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3017520"/>
            <a:ext cx="3474720" cy="1097280"/>
          </a:xfrm>
          <a:prstGeom prst="rect">
            <a:avLst/>
          </a:prstGeom>
          <a:solidFill>
            <a:srgbClr val="008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3108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Physical Sciences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566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8E8"/>
                </a:solidFill>
                <a:latin typeface="Segoe UI"/>
              </a:defRPr>
            </a:pPr>
            <a:r>
              <a:t>Grades 10-12 (FET)</a:t>
            </a:r>
            <a:br/>
            <a:r>
              <a:t>Status: Planned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3017520"/>
            <a:ext cx="3474720" cy="109728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3108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Accounting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566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8E8"/>
                </a:solidFill>
                <a:latin typeface="Segoe UI"/>
              </a:defRPr>
            </a:pPr>
            <a:r>
              <a:t>Grades 10-12 (FET)</a:t>
            </a:r>
            <a:br/>
            <a:r>
              <a:t>Status: Planned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389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MATHEMATICS TOPICS BY PHASE: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846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45A"/>
                </a:solidFill>
                <a:latin typeface="Segoe UI"/>
              </a:defRPr>
            </a:pPr>
            <a:r>
              <a:t>Foundation (Gr 1-3)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8463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Segoe UI"/>
              </a:defRPr>
            </a:pPr>
            <a:r>
              <a:t>Counting, Addition, Subtraction, Patterns, Shapes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303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99B"/>
                </a:solidFill>
                <a:latin typeface="Segoe UI"/>
              </a:defRPr>
            </a:pPr>
            <a:r>
              <a:t>Intermediate (Gr 4-6)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53035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Segoe UI"/>
              </a:defRPr>
            </a:pPr>
            <a:r>
              <a:t>Fractions, Decimals, Geometry, Data Handling, Measurement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760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5CE7"/>
                </a:solidFill>
                <a:latin typeface="Segoe UI"/>
              </a:defRPr>
            </a:pPr>
            <a:r>
              <a:t>Senior (Gr 7-9)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57607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Segoe UI"/>
              </a:defRPr>
            </a:pPr>
            <a:r>
              <a:t>Algebra, Equations, Functions, Geometry, Statistics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217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B81C"/>
                </a:solidFill>
                <a:latin typeface="Segoe UI"/>
              </a:defRPr>
            </a:pPr>
            <a:r>
              <a:t>FET (Gr 10-12)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62179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Segoe UI"/>
              </a:defRPr>
            </a:pPr>
            <a:r>
              <a:t>Calculus, Trigonometry, Functions, Statistics, Probability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EA8DE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2286000" cy="457200"/>
          </a:xfrm>
          <a:prstGeom prst="rect">
            <a:avLst/>
          </a:prstGeom>
          <a:solidFill>
            <a:srgbClr val="008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AI / LLM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097280"/>
            <a:ext cx="502920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11430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AWS Bedrock (Claude 3.5 Sonnet)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19"/>
            <a:ext cx="2286000" cy="457200"/>
          </a:xfrm>
          <a:prstGeom prst="rect">
            <a:avLst/>
          </a:prstGeom>
          <a:solidFill>
            <a:srgbClr val="00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916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645919"/>
            <a:ext cx="502920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1691639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AWS Lambda (Serverless)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2286000" cy="4572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240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194560"/>
            <a:ext cx="502920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0" y="22402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API Gateway (Zero-rated endpoints)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743200"/>
            <a:ext cx="2286000" cy="45720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788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Database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2743200"/>
            <a:ext cx="502920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0" y="27889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DynamoDB (Learner profiles &amp; progress)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291839"/>
            <a:ext cx="228600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33755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Storage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3291839"/>
            <a:ext cx="502920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08960" y="3337559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S3 (Curriculum resources)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840480"/>
            <a:ext cx="2286000" cy="457200"/>
          </a:xfrm>
          <a:prstGeom prst="rect">
            <a:avLst/>
          </a:prstGeom>
          <a:solidFill>
            <a:srgbClr val="00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886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WhatsApp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3840480"/>
            <a:ext cx="502920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08960" y="38862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WhatsApp Business API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389120"/>
            <a:ext cx="228600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434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USSD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0" y="4389120"/>
            <a:ext cx="502920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08960" y="44348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USSD Gateway Provider (Vodacom)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937760"/>
            <a:ext cx="2286000" cy="457200"/>
          </a:xfrm>
          <a:prstGeom prst="rect">
            <a:avLst/>
          </a:prstGeom>
          <a:solidFill>
            <a:srgbClr val="008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983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Infrastructure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26080" y="4937760"/>
            <a:ext cx="502920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08960" y="49834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AWS CDK (Infrastructure as Code)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0" y="1097280"/>
            <a:ext cx="3291840" cy="5029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95360" y="1188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B81C"/>
                </a:solidFill>
                <a:latin typeface="Segoe UI"/>
              </a:defRPr>
            </a:pPr>
            <a:r>
              <a:t>COST ESTIMATE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1645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8E8"/>
                </a:solidFill>
                <a:latin typeface="Segoe UI"/>
              </a:defRPr>
            </a:pPr>
            <a:r>
              <a:t>(10,000 learners/month)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210312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Lambda:  $50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API Gateway:  $30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DynamoDB:  $25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Bedrock:  $200</a:t>
            </a:r>
          </a:p>
          <a:p>
            <a:pPr>
              <a:spcBef>
                <a:spcPts val="400"/>
              </a:spcBef>
              <a:defRPr sz="1200">
                <a:latin typeface="Segoe UI"/>
              </a:defRPr>
            </a:pPr>
          </a:p>
          <a:p>
            <a:pPr>
              <a:spcBef>
                <a:spcPts val="400"/>
              </a:spcBef>
              <a:defRPr b="1" sz="1200">
                <a:solidFill>
                  <a:srgbClr val="00B45A"/>
                </a:solidFill>
                <a:latin typeface="Segoe UI"/>
              </a:defRPr>
            </a:pPr>
            <a:r>
              <a:t>TOTAL:  ~$305/mo</a:t>
            </a:r>
          </a:p>
          <a:p>
            <a:pPr>
              <a:spcBef>
                <a:spcPts val="400"/>
              </a:spcBef>
              <a:defRPr sz="1200">
                <a:latin typeface="Segoe UI"/>
              </a:defRPr>
            </a:pPr>
          </a:p>
          <a:p>
            <a:pPr>
              <a:spcBef>
                <a:spcPts val="400"/>
              </a:spcBef>
              <a:defRPr b="1" sz="1200">
                <a:solidFill>
                  <a:srgbClr val="FFB81C"/>
                </a:solidFill>
                <a:latin typeface="Segoe UI"/>
              </a:defRPr>
            </a:pPr>
            <a:r>
              <a:t>Per Learner:  R0.58/mo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Segoe UI"/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B81C"/>
                </a:solidFill>
                <a:latin typeface="Segoe UI"/>
              </a:defRPr>
            </a:pPr>
            <a:r>
              <a:t>Watch the AI Tutor in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931920"/>
            <a:ext cx="667512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0" y="4023360"/>
            <a:ext cx="6126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  <a:latin typeface="Segoe UI"/>
              </a:defRPr>
            </a:pPr>
            <a:r>
              <a:t>  Learner asks for help with a math problem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  <a:latin typeface="Segoe UI"/>
              </a:defRPr>
            </a:pPr>
            <a:r>
              <a:t>  AI detects misconception in real-time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  <a:latin typeface="Segoe UI"/>
              </a:defRPr>
            </a:pPr>
            <a:r>
              <a:t>  AI guides learner using Socratic method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  <a:latin typeface="Segoe UI"/>
              </a:defRPr>
            </a:pPr>
            <a:r>
              <a:t>  Learner solves problem themselves!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45A"/>
                </a:solidFill>
                <a:latin typeface="Segoe UI"/>
              </a:defRPr>
            </a:pPr>
            <a:r>
              <a:t>IMPACT &amp; TARGET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2194560" cy="1828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5A"/>
                </a:solidFill>
                <a:latin typeface="Segoe UI"/>
              </a:defRPr>
            </a:pPr>
            <a:r>
              <a:t>10,000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945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8E8"/>
                </a:solidFill>
                <a:latin typeface="Segoe UI"/>
              </a:defRPr>
            </a:pPr>
            <a:r>
              <a:t>Active</a:t>
            </a:r>
            <a:br/>
            <a:r>
              <a:t>Learners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1188720"/>
            <a:ext cx="2194560" cy="1828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3716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899B"/>
                </a:solidFill>
                <a:latin typeface="Segoe UI"/>
              </a:defRPr>
            </a:pPr>
            <a:r>
              <a:t>100,000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1945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8E8"/>
                </a:solidFill>
                <a:latin typeface="Segoe UI"/>
              </a:defRPr>
            </a:pPr>
            <a:r>
              <a:t>Problems</a:t>
            </a:r>
            <a:br/>
            <a:r>
              <a:t>Solved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188720"/>
            <a:ext cx="2194560" cy="1828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13716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B81C"/>
                </a:solidFill>
                <a:latin typeface="Segoe UI"/>
              </a:defRPr>
            </a:pPr>
            <a:r>
              <a:t>+20%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1945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8E8"/>
                </a:solidFill>
                <a:latin typeface="Segoe UI"/>
              </a:defRPr>
            </a:pPr>
            <a:r>
              <a:t>Accuracy</a:t>
            </a:r>
            <a:br/>
            <a:r>
              <a:t>Improvement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1188720"/>
            <a:ext cx="2194560" cy="1828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0" y="13716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C5CE7"/>
                </a:solidFill>
                <a:latin typeface="Segoe UI"/>
              </a:defRPr>
            </a:pPr>
            <a:r>
              <a:t>&gt;70%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0" y="21945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8E8"/>
                </a:solidFill>
                <a:latin typeface="Segoe UI"/>
              </a:defRPr>
            </a:pPr>
            <a:r>
              <a:t>Session</a:t>
            </a:r>
            <a:br/>
            <a:r>
              <a:t>Completion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84080" y="1188720"/>
            <a:ext cx="2194560" cy="1828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0" y="13716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B35"/>
                </a:solidFill>
                <a:latin typeface="Segoe UI"/>
              </a:defRPr>
            </a:pPr>
            <a:r>
              <a:t>4.0/5.0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21945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8E8"/>
                </a:solidFill>
                <a:latin typeface="Segoe UI"/>
              </a:defRPr>
            </a:pPr>
            <a:r>
              <a:t>User</a:t>
            </a:r>
            <a:br/>
            <a:r>
              <a:t>Satisfaction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91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ADDRESSING SOUTH AFRICAN EDUCATION CHALLENGES: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8404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E3531"/>
                </a:solidFill>
                <a:latin typeface="Segoe UI"/>
              </a:defRPr>
            </a:pPr>
            <a:r>
              <a:t>  High learner-teacher ratios (40:1)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8404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B45A"/>
                </a:solidFill>
                <a:latin typeface="Segoe UI"/>
              </a:defRPr>
            </a:pPr>
            <a:r>
              <a:t>  Personal AI tutor for every learner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3434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E3531"/>
                </a:solidFill>
                <a:latin typeface="Segoe UI"/>
              </a:defRPr>
            </a:pPr>
            <a:r>
              <a:t>  Expensive private tutoring (R200-500/hr)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3434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B45A"/>
                </a:solidFill>
                <a:latin typeface="Segoe UI"/>
              </a:defRPr>
            </a:pPr>
            <a:r>
              <a:t>  FREE, accessible via WhatsApp/USSD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8463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E3531"/>
                </a:solidFill>
                <a:latin typeface="Segoe UI"/>
              </a:defRPr>
            </a:pPr>
            <a:r>
              <a:t>  Data costs block online learning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8463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B45A"/>
                </a:solidFill>
                <a:latin typeface="Segoe UI"/>
              </a:defRPr>
            </a:pPr>
            <a:r>
              <a:t>  Zero-rated on Vodacom network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3492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E3531"/>
                </a:solidFill>
                <a:latin typeface="Segoe UI"/>
              </a:defRPr>
            </a:pPr>
            <a:r>
              <a:t>  Language barriers in education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53492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B45A"/>
                </a:solidFill>
                <a:latin typeface="Segoe UI"/>
              </a:defRPr>
            </a:pPr>
            <a:r>
              <a:t>  Multi-language support (11 languages)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521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E3531"/>
                </a:solidFill>
                <a:latin typeface="Segoe UI"/>
              </a:defRPr>
            </a:pPr>
            <a:r>
              <a:t>  Rural access limitations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58521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B45A"/>
                </a:solidFill>
                <a:latin typeface="Segoe UI"/>
              </a:defRPr>
            </a:pPr>
            <a:r>
              <a:t>  USSD works on any phone, anywhere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B81C"/>
                </a:solidFill>
                <a:latin typeface="Segoe UI"/>
              </a:defRPr>
            </a:pPr>
            <a:r>
              <a:t>COMPETITIVE ADVANTAGE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2286000" cy="45720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Feature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0" y="1097280"/>
            <a:ext cx="4114800" cy="45720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111556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Traditional AI Tutors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0" y="1097280"/>
            <a:ext cx="4114800" cy="45720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111556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AI Tutor South Africa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691640"/>
            <a:ext cx="228600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Reasoning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691640"/>
            <a:ext cx="411480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17373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E3531"/>
                </a:solidFill>
                <a:latin typeface="Segoe UI"/>
              </a:defRPr>
            </a:pPr>
            <a:r>
              <a:t>  Checks answer only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1691640"/>
            <a:ext cx="411480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17373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45A"/>
                </a:solidFill>
                <a:latin typeface="Segoe UI"/>
              </a:defRPr>
            </a:pPr>
            <a:r>
              <a:t>  Analyzes WHY learner thinks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221992"/>
            <a:ext cx="2286000" cy="457200"/>
          </a:xfrm>
          <a:prstGeom prst="rect">
            <a:avLst/>
          </a:prstGeom>
          <a:solidFill>
            <a:srgbClr val="12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26771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Teaching Method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2221992"/>
            <a:ext cx="4114800" cy="457200"/>
          </a:xfrm>
          <a:prstGeom prst="rect">
            <a:avLst/>
          </a:prstGeom>
          <a:solidFill>
            <a:srgbClr val="12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0" y="226771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E3531"/>
                </a:solidFill>
                <a:latin typeface="Segoe UI"/>
              </a:defRPr>
            </a:pPr>
            <a:r>
              <a:t>  Gives answers directly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60" y="2221992"/>
            <a:ext cx="4114800" cy="457200"/>
          </a:xfrm>
          <a:prstGeom prst="rect">
            <a:avLst/>
          </a:prstGeom>
          <a:solidFill>
            <a:srgbClr val="12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0" y="226771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45A"/>
                </a:solidFill>
                <a:latin typeface="Segoe UI"/>
              </a:defRPr>
            </a:pPr>
            <a:r>
              <a:t>  Socratic method - guides discovery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2752344"/>
            <a:ext cx="228600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279806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Data Access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2752344"/>
            <a:ext cx="411480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0" y="2798064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E3531"/>
                </a:solidFill>
                <a:latin typeface="Segoe UI"/>
              </a:defRPr>
            </a:pPr>
            <a:r>
              <a:t>  Requires data/internet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23760" y="2752344"/>
            <a:ext cx="411480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0" y="2798064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45A"/>
                </a:solidFill>
                <a:latin typeface="Segoe UI"/>
              </a:defRPr>
            </a:pPr>
            <a:r>
              <a:t>  Zero-rated on Vodacom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282696"/>
            <a:ext cx="2286000" cy="457200"/>
          </a:xfrm>
          <a:prstGeom prst="rect">
            <a:avLst/>
          </a:prstGeom>
          <a:solidFill>
            <a:srgbClr val="12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32841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Device Support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17520" y="3282696"/>
            <a:ext cx="4114800" cy="457200"/>
          </a:xfrm>
          <a:prstGeom prst="rect">
            <a:avLst/>
          </a:prstGeom>
          <a:solidFill>
            <a:srgbClr val="12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08960" y="332841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E3531"/>
                </a:solidFill>
                <a:latin typeface="Segoe UI"/>
              </a:defRPr>
            </a:pPr>
            <a:r>
              <a:t>  Smartphone only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23760" y="3282696"/>
            <a:ext cx="4114800" cy="457200"/>
          </a:xfrm>
          <a:prstGeom prst="rect">
            <a:avLst/>
          </a:prstGeom>
          <a:solidFill>
            <a:srgbClr val="12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0" y="332841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45A"/>
                </a:solidFill>
                <a:latin typeface="Segoe UI"/>
              </a:defRPr>
            </a:pPr>
            <a:r>
              <a:t>  ANY phone (USSD + WhatsApp)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3813048"/>
            <a:ext cx="228600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38587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Language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017520" y="3813048"/>
            <a:ext cx="411480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08960" y="385876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E3531"/>
                </a:solidFill>
                <a:latin typeface="Segoe UI"/>
              </a:defRPr>
            </a:pPr>
            <a:r>
              <a:t>  English only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23760" y="3813048"/>
            <a:ext cx="411480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0" y="385876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45A"/>
                </a:solidFill>
                <a:latin typeface="Segoe UI"/>
              </a:defRPr>
            </a:pPr>
            <a:r>
              <a:t>  11 official SA languages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343400"/>
            <a:ext cx="2286000" cy="457200"/>
          </a:xfrm>
          <a:prstGeom prst="rect">
            <a:avLst/>
          </a:prstGeom>
          <a:solidFill>
            <a:srgbClr val="12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4389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Curriculum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017520" y="4343400"/>
            <a:ext cx="4114800" cy="457200"/>
          </a:xfrm>
          <a:prstGeom prst="rect">
            <a:avLst/>
          </a:prstGeom>
          <a:solidFill>
            <a:srgbClr val="12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08960" y="43891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E3531"/>
                </a:solidFill>
                <a:latin typeface="Segoe UI"/>
              </a:defRPr>
            </a:pPr>
            <a:r>
              <a:t>  Generic / US curriculum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23760" y="4343400"/>
            <a:ext cx="4114800" cy="457200"/>
          </a:xfrm>
          <a:prstGeom prst="rect">
            <a:avLst/>
          </a:prstGeom>
          <a:solidFill>
            <a:srgbClr val="12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0" y="43891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45A"/>
                </a:solidFill>
                <a:latin typeface="Segoe UI"/>
              </a:defRPr>
            </a:pPr>
            <a:r>
              <a:t>  CAPS &amp; IEB aligned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4873752"/>
            <a:ext cx="228600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491947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Context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4873752"/>
            <a:ext cx="411480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108960" y="491947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E3531"/>
                </a:solidFill>
                <a:latin typeface="Segoe UI"/>
              </a:defRPr>
            </a:pPr>
            <a:r>
              <a:t>  Generic examples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23760" y="4873752"/>
            <a:ext cx="411480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0" y="491947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45A"/>
                </a:solidFill>
                <a:latin typeface="Segoe UI"/>
              </a:defRPr>
            </a:pPr>
            <a:r>
              <a:t>  South African context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" y="5404104"/>
            <a:ext cx="2286000" cy="457200"/>
          </a:xfrm>
          <a:prstGeom prst="rect">
            <a:avLst/>
          </a:prstGeom>
          <a:solidFill>
            <a:srgbClr val="12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" y="544982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Personalization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5404104"/>
            <a:ext cx="4114800" cy="457200"/>
          </a:xfrm>
          <a:prstGeom prst="rect">
            <a:avLst/>
          </a:prstGeom>
          <a:solidFill>
            <a:srgbClr val="12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108960" y="5449824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E3531"/>
                </a:solidFill>
                <a:latin typeface="Segoe UI"/>
              </a:defRPr>
            </a:pPr>
            <a:r>
              <a:t>  One-size-fits-all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23760" y="5404104"/>
            <a:ext cx="4114800" cy="457200"/>
          </a:xfrm>
          <a:prstGeom prst="rect">
            <a:avLst/>
          </a:prstGeom>
          <a:solidFill>
            <a:srgbClr val="12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5200" y="5449824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45A"/>
                </a:solidFill>
                <a:latin typeface="Segoe UI"/>
              </a:defRPr>
            </a:pPr>
            <a:r>
              <a:t>  Adaptive to learner level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0" y="6126480"/>
            <a:ext cx="9418320" cy="548640"/>
          </a:xfrm>
          <a:prstGeom prst="rect">
            <a:avLst/>
          </a:prstGeom>
          <a:solidFill>
            <a:srgbClr val="0A3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554480" y="6172200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B45A"/>
                </a:solidFill>
                <a:latin typeface="Segoe UI"/>
              </a:defRPr>
            </a:pPr>
            <a:r>
              <a:t>We're not just another AI tutor - we're built specifically for South African learners!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899B"/>
                </a:solidFill>
                <a:latin typeface="Segoe UI"/>
              </a:defRPr>
            </a:pPr>
            <a:r>
              <a:t>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474720" cy="4572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474720" cy="548640"/>
          </a:xfrm>
          <a:prstGeom prst="rect">
            <a:avLst/>
          </a:prstGeom>
          <a:solidFill>
            <a:srgbClr val="00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PHASE 1: Launch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8E8"/>
                </a:solidFill>
                <a:latin typeface="Segoe UI"/>
              </a:defRPr>
            </a:pPr>
            <a:r>
              <a:t>Months 1-3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  WhatsApp integration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  Mathematics (Gr 8-12)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  English + IsiZulu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  Vodacom zero-rating</a:t>
            </a:r>
            <a:br/>
            <a:r>
              <a:t>partnership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  10,000 learners target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188720"/>
            <a:ext cx="3474720" cy="4572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474720" cy="54864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234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2E"/>
                </a:solidFill>
                <a:latin typeface="Segoe UI"/>
              </a:defRPr>
            </a:pPr>
            <a:r>
              <a:t>PHASE 2: Expand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691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8E8"/>
                </a:solidFill>
                <a:latin typeface="Segoe UI"/>
              </a:defRPr>
            </a:pPr>
            <a:r>
              <a:t>Months 4-6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10312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  USSD channel launch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  All grades (1-12)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  All 11 official languages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  Image recognition</a:t>
            </a:r>
            <a:br/>
            <a:r>
              <a:t>(snap photo of problem)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  Voice message support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188720"/>
            <a:ext cx="3474720" cy="4572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188720"/>
            <a:ext cx="3474720" cy="54864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234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PHASE 3: 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691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8E8"/>
                </a:solidFill>
                <a:latin typeface="Segoe UI"/>
              </a:defRPr>
            </a:pPr>
            <a:r>
              <a:t>Months 7-12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10312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  Physical Sciences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  Accounting subject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  Parent/guardian reports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  School dashboard</a:t>
            </a:r>
            <a:br/>
            <a:r>
              <a:t>for teachers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  100,000 learners target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035040"/>
            <a:ext cx="11247120" cy="640080"/>
          </a:xfrm>
          <a:prstGeom prst="rect">
            <a:avLst/>
          </a:prstGeom>
          <a:solidFill>
            <a:srgbClr val="0A3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5A"/>
                </a:solidFill>
                <a:latin typeface="Segoe UI"/>
              </a:defRPr>
            </a:pPr>
            <a:r>
              <a:t>VISION: A personal AI tutor for every South African learner, accessible anywhere, anytime, for free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C5CE7"/>
                </a:solidFill>
                <a:latin typeface="Segoe UI"/>
              </a:defRPr>
            </a:pPr>
            <a:r>
              <a:t>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8E8E8"/>
                </a:solidFill>
                <a:latin typeface="Segoe UI"/>
              </a:defRPr>
            </a:pPr>
            <a:r>
              <a:t>South Africans building for South African learners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651760" cy="3474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80160" y="2103120"/>
            <a:ext cx="1371600" cy="1371600"/>
          </a:xfrm>
          <a:prstGeom prst="ellipse">
            <a:avLst/>
          </a:prstGeom>
          <a:solidFill>
            <a:srgbClr val="00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[Team Member 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B45A"/>
                </a:solidFill>
                <a:latin typeface="Segoe UI"/>
              </a:defRPr>
            </a:pPr>
            <a:r>
              <a:t>[Role]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805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8E8"/>
                </a:solidFill>
                <a:latin typeface="Segoe UI"/>
              </a:defRPr>
            </a:pPr>
            <a:r>
              <a:t>[Expertise area]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1828800"/>
            <a:ext cx="2651760" cy="3474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06240" y="2103120"/>
            <a:ext cx="1371600" cy="1371600"/>
          </a:xfrm>
          <a:prstGeom prst="ellipse">
            <a:avLst/>
          </a:prstGeom>
          <a:solidFill>
            <a:srgbClr val="008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[Team Member 2]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899B"/>
                </a:solidFill>
                <a:latin typeface="Segoe UI"/>
              </a:defRPr>
            </a:pPr>
            <a:r>
              <a:t>[Role]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44805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8E8"/>
                </a:solidFill>
                <a:latin typeface="Segoe UI"/>
              </a:defRPr>
            </a:pPr>
            <a:r>
              <a:t>[Expertise area]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1828800"/>
            <a:ext cx="2651760" cy="3474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0" y="2103120"/>
            <a:ext cx="1371600" cy="137160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[Team Member 3]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C5CE7"/>
                </a:solidFill>
                <a:latin typeface="Segoe UI"/>
              </a:defRPr>
            </a:pPr>
            <a:r>
              <a:t>[Role]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4805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8E8"/>
                </a:solidFill>
                <a:latin typeface="Segoe UI"/>
              </a:defRPr>
            </a:pPr>
            <a:r>
              <a:t>[Expertise area]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18320" y="1828800"/>
            <a:ext cx="2651760" cy="3474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058400" y="2103120"/>
            <a:ext cx="1371600" cy="1371600"/>
          </a:xfrm>
          <a:prstGeom prst="ellipse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[Team Member 4]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B81C"/>
                </a:solidFill>
                <a:latin typeface="Segoe UI"/>
              </a:defRPr>
            </a:pPr>
            <a:r>
              <a:t>[Role]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44805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8E8"/>
                </a:solidFill>
                <a:latin typeface="Segoe UI"/>
              </a:defRPr>
            </a:pPr>
            <a:r>
              <a:t>[Expertise area]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5760720"/>
            <a:ext cx="941832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54480" y="5852160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We understand the education challenges in SA because we've lived them.</a:t>
            </a:r>
            <a:br/>
            <a:r>
              <a:t>Our mission: Quality education for EVERY learner, regardless of circumstances.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B81C"/>
                </a:solidFill>
                <a:latin typeface="Segoe UI"/>
              </a:defRPr>
            </a:pPr>
            <a: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What we need to make this a reality: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124712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640080" cy="640080"/>
          </a:xfrm>
          <a:prstGeom prst="rect">
            <a:avLst/>
          </a:prstGeom>
          <a:solidFill>
            <a:srgbClr val="00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737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5A"/>
                </a:solidFill>
                <a:latin typeface="Segoe UI"/>
              </a:defRPr>
            </a:pPr>
            <a:r>
              <a:t>FUNDING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Scale to 100,000 learners in year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920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Segoe UI"/>
              </a:defRPr>
            </a:pPr>
            <a:r>
              <a:t>$50,000 seed funding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43200"/>
            <a:ext cx="1124712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880360"/>
            <a:ext cx="640080" cy="640080"/>
          </a:xfrm>
          <a:prstGeom prst="rect">
            <a:avLst/>
          </a:prstGeom>
          <a:solidFill>
            <a:srgbClr val="008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260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834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899B"/>
                </a:solidFill>
                <a:latin typeface="Segoe UI"/>
              </a:defRPr>
            </a:pPr>
            <a:r>
              <a:t>PARTNERSHIP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246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Vodacom zero-rating partnership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017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Segoe UI"/>
              </a:defRPr>
            </a:pPr>
            <a:r>
              <a:t>API endpoint whitelisting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1124712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977640"/>
            <a:ext cx="640080" cy="64008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0233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931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5CE7"/>
                </a:solidFill>
                <a:latin typeface="Segoe UI"/>
              </a:defRPr>
            </a:pPr>
            <a:r>
              <a:t>CURRICULUM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343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Content experts for CAPS/IEB alignment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114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Segoe UI"/>
              </a:defRPr>
            </a:pPr>
            <a:r>
              <a:t>Subject matter experts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937759"/>
            <a:ext cx="1124712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5074919"/>
            <a:ext cx="640080" cy="64008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12063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02919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81C"/>
                </a:solidFill>
                <a:latin typeface="Segoe UI"/>
              </a:defRPr>
            </a:pPr>
            <a:r>
              <a:t>PILOT SCHOOLS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4406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5-10 schools for beta testing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521207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Segoe UI"/>
              </a:defRPr>
            </a:pPr>
            <a:r>
              <a:t>Feedback &amp; validation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0" y="5943600"/>
            <a:ext cx="6675120" cy="731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26080" y="5989320"/>
            <a:ext cx="6309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B81C"/>
                </a:solidFill>
                <a:latin typeface="Segoe UI"/>
              </a:defRPr>
            </a:pPr>
            <a:r>
              <a:t>Contact:  team@aitutor.co.za  |  +27 XX XXX XXXX  |  www.aitutor.co.za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B45A"/>
                </a:solidFill>
                <a:latin typeface="Segoe UI"/>
              </a:defRPr>
            </a:pPr>
            <a:r>
              <a:t>AI TUTOR SOUTH AFRICA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3474720"/>
            <a:ext cx="758952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3657600"/>
            <a:ext cx="7223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B81C"/>
                </a:solidFill>
                <a:latin typeface="Segoe UI"/>
              </a:defRPr>
            </a:pPr>
            <a:r>
              <a:t>"Traditional AI tutors give answers.</a:t>
            </a:r>
            <a:br/>
            <a:r>
              <a:t>We build thinkers."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20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8E8E8"/>
                </a:solidFill>
                <a:latin typeface="Segoe UI"/>
              </a:defRPr>
            </a:pPr>
            <a:r>
              <a:t>Teaching Students HOW to Think, Not WHAT to Think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Questions? Let's chat!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